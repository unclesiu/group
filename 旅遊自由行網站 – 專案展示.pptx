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57" r:id="rId3"/>
    <p:sldId id="263" r:id="rId4"/>
    <p:sldId id="267" r:id="rId5"/>
    <p:sldId id="258" r:id="rId6"/>
    <p:sldId id="264" r:id="rId7"/>
    <p:sldId id="259" r:id="rId8"/>
    <p:sldId id="266" r:id="rId9"/>
    <p:sldId id="260" r:id="rId10"/>
    <p:sldId id="268" r:id="rId11"/>
    <p:sldId id="261" r:id="rId12"/>
    <p:sldId id="265" r:id="rId13"/>
    <p:sldId id="262" r:id="rId14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3D3FF-5BE5-4AD6-9612-C5BD5CBB0C2A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7C161-714A-4C96-AC19-21C45CC2EB6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0645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7C161-714A-4C96-AC19-21C45CC2EB62}" type="slidenum">
              <a:rPr lang="zh-HK" altLang="en-US" smtClean="0"/>
              <a:t>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3079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E114D4F6-2459-41B7-AD5C-83883DA302D5}" type="datetimeFigureOut">
              <a:rPr lang="zh-HK" altLang="en-US" smtClean="0"/>
              <a:t>26/3/2026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4C7EFF95-A379-4A38-A589-18167910962C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</p:spPr>
        <p:txBody>
          <a:bodyPr/>
          <a:lstStyle/>
          <a:p>
            <a:r>
              <a:rPr lang="zh-TW" altLang="en-US" b="1" dirty="0" smtClean="0"/>
              <a:t>旅遊自由行網站 </a:t>
            </a:r>
            <a:r>
              <a:rPr lang="en-US" altLang="zh-TW" b="1" dirty="0" smtClean="0"/>
              <a:t>– </a:t>
            </a:r>
            <a:r>
              <a:rPr lang="zh-TW" altLang="en-US" b="1" dirty="0" smtClean="0"/>
              <a:t>專案展示</a:t>
            </a:r>
            <a:endParaRPr lang="zh-HK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sz="quarter" idx="13"/>
          </p:nvPr>
        </p:nvSpPr>
        <p:spPr>
          <a:xfrm>
            <a:off x="467544" y="2636912"/>
            <a:ext cx="4906888" cy="1008112"/>
          </a:xfrm>
        </p:spPr>
        <p:txBody>
          <a:bodyPr>
            <a:normAutofit/>
          </a:bodyPr>
          <a:lstStyle/>
          <a:p>
            <a:r>
              <a:rPr lang="zh-TW" altLang="en-US" b="1" dirty="0" smtClean="0">
                <a:solidFill>
                  <a:schemeClr val="tx1"/>
                </a:solidFill>
              </a:rPr>
              <a:t>互動式旅遊資訊平台</a:t>
            </a:r>
            <a:endParaRPr lang="en-US" altLang="zh-TW" b="1" dirty="0" smtClean="0">
              <a:solidFill>
                <a:schemeClr val="tx1"/>
              </a:solidFill>
            </a:endParaRPr>
          </a:p>
          <a:p>
            <a:r>
              <a:rPr lang="zh-TW" altLang="en-US" b="1" dirty="0" smtClean="0">
                <a:solidFill>
                  <a:schemeClr val="tx1"/>
                </a:solidFill>
              </a:rPr>
              <a:t>簡報日期：</a:t>
            </a:r>
            <a:r>
              <a:rPr lang="en-US" altLang="zh-TW" b="1" dirty="0" smtClean="0">
                <a:solidFill>
                  <a:schemeClr val="tx1"/>
                </a:solidFill>
              </a:rPr>
              <a:t>2026</a:t>
            </a:r>
            <a:r>
              <a:rPr lang="zh-TW" altLang="en-US" b="1" dirty="0" smtClean="0">
                <a:solidFill>
                  <a:schemeClr val="tx1"/>
                </a:solidFill>
              </a:rPr>
              <a:t>年</a:t>
            </a:r>
            <a:r>
              <a:rPr lang="en-US" altLang="zh-TW" b="1" dirty="0" smtClean="0">
                <a:solidFill>
                  <a:schemeClr val="tx1"/>
                </a:solidFill>
              </a:rPr>
              <a:t>3</a:t>
            </a:r>
            <a:r>
              <a:rPr lang="zh-TW" altLang="en-US" b="1" dirty="0" smtClean="0">
                <a:solidFill>
                  <a:schemeClr val="tx1"/>
                </a:solidFill>
              </a:rPr>
              <a:t>月</a:t>
            </a:r>
            <a:r>
              <a:rPr lang="en-US" altLang="zh-TW" b="1" dirty="0" smtClean="0">
                <a:solidFill>
                  <a:schemeClr val="tx1"/>
                </a:solidFill>
              </a:rPr>
              <a:t>30</a:t>
            </a:r>
            <a:r>
              <a:rPr lang="zh-TW" altLang="en-US" b="1" dirty="0" smtClean="0">
                <a:solidFill>
                  <a:schemeClr val="tx1"/>
                </a:solidFill>
              </a:rPr>
              <a:t>日</a:t>
            </a:r>
            <a:endParaRPr lang="en-US" altLang="zh-TW" b="1" dirty="0" smtClean="0">
              <a:solidFill>
                <a:schemeClr val="tx1"/>
              </a:solidFill>
            </a:endParaRPr>
          </a:p>
          <a:p>
            <a:endParaRPr lang="en-US" altLang="zh-TW" b="1" dirty="0" smtClean="0">
              <a:solidFill>
                <a:schemeClr val="tx1"/>
              </a:solidFill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4"/>
          </p:nvPr>
        </p:nvSpPr>
        <p:spPr>
          <a:xfrm>
            <a:off x="4648200" y="3933056"/>
            <a:ext cx="4038600" cy="2193107"/>
          </a:xfrm>
        </p:spPr>
        <p:txBody>
          <a:bodyPr>
            <a:normAutofit/>
          </a:bodyPr>
          <a:lstStyle/>
          <a:p>
            <a:r>
              <a:rPr lang="zh-TW" altLang="en-US" b="1" dirty="0" smtClean="0">
                <a:solidFill>
                  <a:schemeClr val="tx1"/>
                </a:solidFill>
              </a:rPr>
              <a:t>設計者：自由行團隊</a:t>
            </a:r>
            <a:endParaRPr lang="en-US" altLang="zh-TW" b="1" dirty="0" smtClean="0">
              <a:solidFill>
                <a:schemeClr val="tx1"/>
              </a:solidFill>
            </a:endParaRPr>
          </a:p>
          <a:p>
            <a:r>
              <a:rPr lang="en-US" altLang="zh-TW" b="1" dirty="0" smtClean="0">
                <a:solidFill>
                  <a:schemeClr val="tx1"/>
                </a:solidFill>
              </a:rPr>
              <a:t>GORDON CHAN / SPENCER HUI  </a:t>
            </a:r>
          </a:p>
          <a:p>
            <a:r>
              <a:rPr lang="en-US" altLang="zh-TW" b="1" dirty="0" smtClean="0">
                <a:solidFill>
                  <a:schemeClr val="tx1"/>
                </a:solidFill>
              </a:rPr>
              <a:t>JOHN CHEUNG / DICKSON </a:t>
            </a:r>
            <a:r>
              <a:rPr lang="en-US" altLang="zh-TW" b="1" dirty="0" smtClean="0">
                <a:solidFill>
                  <a:schemeClr val="tx1"/>
                </a:solidFill>
              </a:rPr>
              <a:t>SIU (10)</a:t>
            </a:r>
            <a:endParaRPr lang="en-US" altLang="zh-TW" b="1" dirty="0" smtClean="0">
              <a:solidFill>
                <a:schemeClr val="tx1"/>
              </a:solidFill>
            </a:endParaRP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628141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74745" y="2060848"/>
            <a:ext cx="6533559" cy="9361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 smtClean="0"/>
              <a:t>目標目的 </a:t>
            </a:r>
            <a:r>
              <a:rPr lang="en-US" altLang="zh-HK" sz="2800" dirty="0" smtClean="0"/>
              <a:t>: </a:t>
            </a:r>
            <a:r>
              <a:rPr lang="zh-HK" altLang="en-US" sz="2800" dirty="0" smtClean="0"/>
              <a:t>提供六大洲自由行旅遊資訊，包含亞洲、歐洲、美洲、非洲、大洋洲 </a:t>
            </a:r>
            <a:r>
              <a:rPr lang="en-US" altLang="zh-HK" sz="2800" dirty="0" smtClean="0"/>
              <a:t>;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3600400" cy="1143000"/>
          </a:xfrm>
        </p:spPr>
        <p:txBody>
          <a:bodyPr/>
          <a:lstStyle/>
          <a:p>
            <a:r>
              <a:rPr lang="zh-TW" altLang="en-US" b="1" dirty="0" smtClean="0"/>
              <a:t>內  容  概  覽</a:t>
            </a:r>
            <a:endParaRPr lang="zh-HK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619672" y="3246385"/>
            <a:ext cx="61926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/>
              <a:t>目標群體 </a:t>
            </a:r>
            <a:r>
              <a:rPr lang="en-US" altLang="zh-HK" sz="2800" dirty="0" smtClean="0"/>
              <a:t>: </a:t>
            </a:r>
            <a:r>
              <a:rPr lang="zh-HK" altLang="en-US" sz="2800" dirty="0" smtClean="0"/>
              <a:t>喜愛自助旅遊的旅客，需要快速瀏覽各地資訊 </a:t>
            </a:r>
            <a:r>
              <a:rPr lang="en-US" altLang="zh-HK" sz="2800" dirty="0" smtClean="0"/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2555776" y="4465510"/>
            <a:ext cx="61206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/>
              <a:t>目標關鍵</a:t>
            </a:r>
            <a:r>
              <a:rPr lang="en-US" altLang="zh-HK" sz="2800" dirty="0" smtClean="0"/>
              <a:t>: </a:t>
            </a:r>
            <a:r>
              <a:rPr lang="zh-TW" altLang="en-US" sz="2800" dirty="0" smtClean="0"/>
              <a:t>易於導覽的介面 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導航欄、下拉選單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，</a:t>
            </a:r>
            <a:endParaRPr lang="en-US" altLang="zh-TW" sz="2800" dirty="0" smtClean="0"/>
          </a:p>
          <a:p>
            <a:r>
              <a:rPr lang="zh-TW" altLang="en-US" sz="2800" dirty="0" smtClean="0"/>
              <a:t>視覺吸引力 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動態模糊效果、漸層卡片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，響應式設計 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適應不同螢幕尺寸</a:t>
            </a:r>
            <a:r>
              <a:rPr lang="en-US" altLang="zh-TW" sz="2800" dirty="0" smtClean="0"/>
              <a:t>)</a:t>
            </a:r>
            <a:r>
              <a:rPr lang="en-US" altLang="zh-HK" sz="2800" dirty="0" smtClean="0"/>
              <a:t> ;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1522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 dirty="0"/>
          </a:p>
        </p:txBody>
      </p:sp>
      <p:pic>
        <p:nvPicPr>
          <p:cNvPr id="4" name="影像1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694" y="-6626"/>
            <a:ext cx="9144000" cy="68646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022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4" name="影像2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6957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847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28800"/>
            <a:ext cx="8219256" cy="9361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TW" altLang="en-US" sz="2600" dirty="0" smtClean="0"/>
              <a:t>導覽列 </a:t>
            </a:r>
            <a:r>
              <a:rPr lang="en-US" altLang="zh-TW" sz="2600" dirty="0" smtClean="0"/>
              <a:t>(Navigation Bar) :		</a:t>
            </a:r>
          </a:p>
          <a:p>
            <a:pPr marL="0" indent="0">
              <a:buNone/>
            </a:pPr>
            <a:r>
              <a:rPr lang="en-US" altLang="zh-TW" sz="2600" dirty="0" smtClean="0"/>
              <a:t>	LOGO </a:t>
            </a:r>
            <a:r>
              <a:rPr lang="zh-TW" altLang="en-US" sz="2600" dirty="0" smtClean="0"/>
              <a:t>與頁面連結 </a:t>
            </a:r>
            <a:r>
              <a:rPr lang="en-US" altLang="zh-TW" sz="2600" dirty="0" smtClean="0"/>
              <a:t>(</a:t>
            </a:r>
            <a:r>
              <a:rPr lang="zh-TW" altLang="en-US" sz="2600" dirty="0" smtClean="0"/>
              <a:t>首頁、旅行資訊、旅遊相冊、關於我們、聯繫我們</a:t>
            </a:r>
            <a:r>
              <a:rPr lang="en-US" altLang="zh-TW" sz="2600" dirty="0" smtClean="0"/>
              <a:t>) ;</a:t>
            </a:r>
            <a:endParaRPr lang="en-US" altLang="zh-TW" sz="2600" dirty="0"/>
          </a:p>
          <a:p>
            <a:pPr marL="0" indent="0">
              <a:buNone/>
            </a:pPr>
            <a:r>
              <a:rPr lang="en-US" altLang="zh-TW" dirty="0" smtClean="0"/>
              <a:t>	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內  容  結  構</a:t>
            </a:r>
            <a:endParaRPr lang="zh-HK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3074909" y="3356992"/>
            <a:ext cx="50104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主視覺區域 </a:t>
            </a:r>
            <a:r>
              <a:rPr lang="en-US" altLang="zh-TW" dirty="0" smtClean="0"/>
              <a:t>:</a:t>
            </a:r>
          </a:p>
          <a:p>
            <a:pPr lvl="1"/>
            <a:r>
              <a:rPr lang="zh-TW" altLang="en-US" dirty="0" smtClean="0"/>
              <a:t>橫幅圖片 </a:t>
            </a:r>
            <a:r>
              <a:rPr lang="en-US" altLang="zh-TW" dirty="0" smtClean="0"/>
              <a:t>(Banner) + </a:t>
            </a:r>
            <a:r>
              <a:rPr lang="zh-TW" altLang="en-US" dirty="0" smtClean="0"/>
              <a:t>動態模糊效果 </a:t>
            </a:r>
            <a:r>
              <a:rPr lang="en-US" altLang="zh-TW" dirty="0" smtClean="0"/>
              <a:t>(</a:t>
            </a:r>
            <a:r>
              <a:rPr lang="zh-TW" altLang="en-US" dirty="0" smtClean="0"/>
              <a:t>捲動時觸發</a:t>
            </a:r>
            <a:r>
              <a:rPr lang="en-US" altLang="zh-TW" dirty="0" smtClean="0"/>
              <a:t>) ;  </a:t>
            </a:r>
            <a:r>
              <a:rPr lang="zh-TW" altLang="en-US" dirty="0" smtClean="0"/>
              <a:t>閃爍的歡迎文字 </a:t>
            </a:r>
            <a:r>
              <a:rPr lang="en-US" altLang="zh-TW" dirty="0" smtClean="0"/>
              <a:t>(</a:t>
            </a:r>
            <a:r>
              <a:rPr lang="zh-TW" altLang="en-US" dirty="0" smtClean="0"/>
              <a:t>點擊可切換閃爍</a:t>
            </a:r>
            <a:r>
              <a:rPr lang="en-US" altLang="zh-TW" dirty="0" smtClean="0"/>
              <a:t>) ;</a:t>
            </a:r>
          </a:p>
        </p:txBody>
      </p:sp>
      <p:sp>
        <p:nvSpPr>
          <p:cNvPr id="5" name="矩形 4"/>
          <p:cNvSpPr/>
          <p:nvPr/>
        </p:nvSpPr>
        <p:spPr>
          <a:xfrm>
            <a:off x="1842031" y="4515331"/>
            <a:ext cx="44719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主要內容 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	</a:t>
            </a:r>
            <a:r>
              <a:rPr lang="zh-TW" altLang="en-US" dirty="0" smtClean="0"/>
              <a:t>喜愛地區按鈕 </a:t>
            </a:r>
            <a:r>
              <a:rPr lang="en-US" altLang="zh-TW" dirty="0" smtClean="0"/>
              <a:t>(</a:t>
            </a:r>
            <a:r>
              <a:rPr lang="zh-TW" altLang="en-US" dirty="0" smtClean="0"/>
              <a:t>五大洲</a:t>
            </a:r>
            <a:r>
              <a:rPr lang="en-US" altLang="zh-TW" dirty="0" smtClean="0"/>
              <a:t>) ;  </a:t>
            </a:r>
            <a:r>
              <a:rPr lang="zh-TW" altLang="en-US" dirty="0" smtClean="0"/>
              <a:t>熱門推介卡片 </a:t>
            </a:r>
            <a:r>
              <a:rPr lang="en-US" altLang="zh-TW" dirty="0" smtClean="0"/>
              <a:t>(</a:t>
            </a:r>
            <a:r>
              <a:rPr lang="zh-TW" altLang="en-US" dirty="0" smtClean="0"/>
              <a:t>含查看詳情按鈕</a:t>
            </a:r>
            <a:r>
              <a:rPr lang="en-US" altLang="zh-TW" dirty="0" smtClean="0"/>
              <a:t>)  ;</a:t>
            </a:r>
          </a:p>
        </p:txBody>
      </p:sp>
      <p:sp>
        <p:nvSpPr>
          <p:cNvPr id="6" name="矩形 5"/>
          <p:cNvSpPr/>
          <p:nvPr/>
        </p:nvSpPr>
        <p:spPr>
          <a:xfrm>
            <a:off x="1475656" y="2492895"/>
            <a:ext cx="4104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下拉選單 </a:t>
            </a:r>
            <a:r>
              <a:rPr lang="en-US" altLang="zh-TW" dirty="0" smtClean="0"/>
              <a:t>(Dropdown) : </a:t>
            </a:r>
          </a:p>
          <a:p>
            <a:r>
              <a:rPr lang="en-US" altLang="zh-TW" dirty="0"/>
              <a:t>	</a:t>
            </a:r>
            <a:r>
              <a:rPr lang="zh-TW" altLang="en-US" dirty="0" smtClean="0"/>
              <a:t>旅行資訊與相冊按洲別分類 </a:t>
            </a:r>
            <a:r>
              <a:rPr lang="en-US" altLang="zh-TW" dirty="0" smtClean="0"/>
              <a:t>;</a:t>
            </a:r>
          </a:p>
        </p:txBody>
      </p:sp>
      <p:sp>
        <p:nvSpPr>
          <p:cNvPr id="7" name="矩形 6"/>
          <p:cNvSpPr/>
          <p:nvPr/>
        </p:nvSpPr>
        <p:spPr>
          <a:xfrm>
            <a:off x="3721763" y="5694582"/>
            <a:ext cx="37166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頁尾 </a:t>
            </a:r>
            <a:r>
              <a:rPr lang="en-US" altLang="zh-TW" dirty="0" smtClean="0"/>
              <a:t>: </a:t>
            </a:r>
          </a:p>
          <a:p>
            <a:pPr lvl="1"/>
            <a:r>
              <a:rPr lang="en-US" altLang="zh-TW" dirty="0" smtClean="0"/>
              <a:t>	</a:t>
            </a:r>
            <a:r>
              <a:rPr lang="zh-TW" altLang="en-US" dirty="0" smtClean="0"/>
              <a:t>版權資訊與動態年份 </a:t>
            </a:r>
            <a:r>
              <a:rPr lang="en-US" altLang="zh-TW" dirty="0" smtClean="0"/>
              <a:t>;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06172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4" name="影像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3999" cy="6957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114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2890664" cy="9647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動態</a:t>
            </a:r>
            <a:r>
              <a:rPr lang="zh-TW" altLang="en-US" sz="2000" dirty="0"/>
              <a:t>模糊</a:t>
            </a:r>
            <a:r>
              <a:rPr lang="zh-TW" altLang="en-US" sz="2000" dirty="0" smtClean="0"/>
              <a:t>效果 </a:t>
            </a:r>
            <a:r>
              <a:rPr lang="en-US" altLang="zh-TW" sz="2000" dirty="0" smtClean="0"/>
              <a:t>: </a:t>
            </a:r>
            <a:r>
              <a:rPr lang="zh-TW" altLang="en-US" sz="2000" dirty="0"/>
              <a:t>捲動頁面時 </a:t>
            </a:r>
            <a:r>
              <a:rPr lang="en-US" altLang="zh-TW" sz="2000" dirty="0"/>
              <a:t>banner </a:t>
            </a:r>
            <a:r>
              <a:rPr lang="zh-TW" altLang="en-US" sz="2000" dirty="0"/>
              <a:t>圖片模糊程度</a:t>
            </a:r>
            <a:r>
              <a:rPr lang="zh-TW" altLang="en-US" sz="2000" dirty="0" smtClean="0"/>
              <a:t>增加 </a:t>
            </a:r>
            <a:r>
              <a:rPr lang="en-US" altLang="zh-TW" sz="2000" dirty="0" smtClean="0"/>
              <a:t>;</a:t>
            </a:r>
            <a:r>
              <a:rPr lang="zh-TW" altLang="en-US" sz="2000" dirty="0" smtClean="0"/>
              <a:t>                         </a:t>
            </a:r>
            <a:endParaRPr lang="zh-HK" altLang="en-US" sz="2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					</a:t>
            </a:r>
            <a:r>
              <a:rPr lang="zh-HK" altLang="en-US" b="1" dirty="0" smtClean="0"/>
              <a:t>內  容  功  能</a:t>
            </a:r>
            <a:endParaRPr lang="zh-HK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4749822" y="1939550"/>
            <a:ext cx="28083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dirty="0" smtClean="0"/>
              <a:t>歡迎文字閃爍 </a:t>
            </a:r>
            <a:r>
              <a:rPr lang="en-US" altLang="zh-TW" sz="2000" dirty="0" smtClean="0"/>
              <a:t>: </a:t>
            </a:r>
            <a:r>
              <a:rPr lang="zh-TW" altLang="en-US" sz="2000" dirty="0" smtClean="0"/>
              <a:t>文字每 </a:t>
            </a:r>
            <a:r>
              <a:rPr lang="en-US" altLang="zh-TW" sz="2000" dirty="0" smtClean="0"/>
              <a:t>0.5 </a:t>
            </a:r>
            <a:r>
              <a:rPr lang="zh-TW" altLang="en-US" sz="2000" dirty="0" smtClean="0"/>
              <a:t>秒閃爍，點擊可開關閃爍效果 </a:t>
            </a:r>
            <a:r>
              <a:rPr lang="en-US" altLang="zh-TW" sz="2000" dirty="0" smtClean="0"/>
              <a:t>;</a:t>
            </a:r>
            <a:r>
              <a:rPr lang="zh-TW" altLang="en-US" sz="2000" dirty="0" smtClean="0"/>
              <a:t> </a:t>
            </a:r>
            <a:endParaRPr lang="en-US" altLang="zh-TW" sz="2000" dirty="0" smtClean="0"/>
          </a:p>
        </p:txBody>
      </p:sp>
      <p:sp>
        <p:nvSpPr>
          <p:cNvPr id="5" name="矩形 4"/>
          <p:cNvSpPr/>
          <p:nvPr/>
        </p:nvSpPr>
        <p:spPr>
          <a:xfrm>
            <a:off x="1691680" y="3281641"/>
            <a:ext cx="26642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導覽列黏滯 </a:t>
            </a:r>
            <a:r>
              <a:rPr lang="en-US" altLang="zh-TW" dirty="0" smtClean="0"/>
              <a:t>(Sticky) : </a:t>
            </a:r>
            <a:r>
              <a:rPr lang="zh-TW" altLang="en-US" dirty="0" smtClean="0"/>
              <a:t>捲動時，導覽列固定在頂部 </a:t>
            </a:r>
            <a:r>
              <a:rPr lang="en-US" altLang="zh-TW" dirty="0" smtClean="0"/>
              <a:t>;</a:t>
            </a:r>
            <a:r>
              <a:rPr lang="zh-TW" altLang="en-US" dirty="0" smtClean="0"/>
              <a:t> </a:t>
            </a:r>
            <a:endParaRPr lang="en-US" altLang="zh-TW" dirty="0" smtClean="0"/>
          </a:p>
        </p:txBody>
      </p:sp>
      <p:sp>
        <p:nvSpPr>
          <p:cNvPr id="6" name="矩形 5"/>
          <p:cNvSpPr/>
          <p:nvPr/>
        </p:nvSpPr>
        <p:spPr>
          <a:xfrm>
            <a:off x="5220072" y="4077072"/>
            <a:ext cx="26412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下拉選單懸停 </a:t>
            </a:r>
            <a:r>
              <a:rPr lang="en-US" altLang="zh-TW" dirty="0" smtClean="0"/>
              <a:t>: </a:t>
            </a:r>
            <a:r>
              <a:rPr lang="zh-TW" altLang="en-US" dirty="0" smtClean="0"/>
              <a:t>滑鼠移到「旅行資訊」或「旅遊相冊」時顯示洲別選項，卡片漸層背景 </a:t>
            </a:r>
            <a:r>
              <a:rPr lang="en-US" altLang="zh-TW" dirty="0" smtClean="0"/>
              <a:t>+ </a:t>
            </a:r>
            <a:r>
              <a:rPr lang="zh-TW" altLang="en-US" dirty="0" smtClean="0"/>
              <a:t>懸停按鈕效果 </a:t>
            </a:r>
            <a:r>
              <a:rPr lang="en-US" altLang="zh-TW" dirty="0" smtClean="0"/>
              <a:t>;</a:t>
            </a:r>
            <a:r>
              <a:rPr lang="zh-TW" altLang="en-US" dirty="0" smtClean="0"/>
              <a:t> </a:t>
            </a:r>
            <a:endParaRPr lang="zh-HK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59632" y="5351629"/>
            <a:ext cx="23757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響應式網格 </a:t>
            </a:r>
            <a:r>
              <a:rPr lang="en-US" altLang="zh-TW" dirty="0" smtClean="0"/>
              <a:t>: </a:t>
            </a:r>
            <a:r>
              <a:rPr lang="zh-TW" altLang="en-US" dirty="0" smtClean="0"/>
              <a:t>熱門推介卡片使用 </a:t>
            </a:r>
            <a:r>
              <a:rPr lang="en-US" altLang="zh-TW" dirty="0" smtClean="0"/>
              <a:t>Grid </a:t>
            </a:r>
            <a:r>
              <a:rPr lang="zh-TW" altLang="en-US" dirty="0" smtClean="0"/>
              <a:t>排列</a:t>
            </a:r>
            <a:r>
              <a:rPr lang="en-US" altLang="zh-TW" dirty="0" smtClean="0">
                <a:latin typeface="標楷體"/>
                <a:ea typeface="標楷體"/>
              </a:rPr>
              <a:t>。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30946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4" name="影像6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8088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68079" y="6021288"/>
            <a:ext cx="4086403" cy="4320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HK" altLang="en-US" sz="2000" dirty="0" smtClean="0"/>
              <a:t>跨</a:t>
            </a:r>
            <a:r>
              <a:rPr lang="zh-HK" altLang="en-US" sz="2000" dirty="0"/>
              <a:t>裝置</a:t>
            </a:r>
            <a:r>
              <a:rPr lang="zh-HK" altLang="en-US" sz="2000" dirty="0" smtClean="0"/>
              <a:t>支援 </a:t>
            </a:r>
            <a:r>
              <a:rPr lang="en-US" altLang="zh-HK" sz="2000" dirty="0" smtClean="0"/>
              <a:t>: </a:t>
            </a:r>
            <a:r>
              <a:rPr lang="en-US" altLang="zh-HK" sz="2000" dirty="0"/>
              <a:t>viewport meta </a:t>
            </a:r>
            <a:r>
              <a:rPr lang="zh-HK" altLang="en-US" sz="2000" dirty="0" smtClean="0"/>
              <a:t>標籤</a:t>
            </a:r>
            <a:r>
              <a:rPr lang="zh-HK" altLang="en-US" sz="2000" dirty="0" smtClean="0">
                <a:latin typeface="標楷體"/>
                <a:ea typeface="標楷體"/>
              </a:rPr>
              <a:t>。</a:t>
            </a:r>
            <a:endParaRPr lang="zh-HK" altLang="en-US" sz="2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042792" cy="2794322"/>
          </a:xfrm>
        </p:spPr>
        <p:txBody>
          <a:bodyPr>
            <a:noAutofit/>
          </a:bodyPr>
          <a:lstStyle/>
          <a:p>
            <a:pPr algn="l"/>
            <a:r>
              <a:rPr lang="zh-TW" altLang="en-US" b="1" dirty="0" smtClean="0"/>
              <a:t>內  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b="1" dirty="0" smtClean="0"/>
              <a:t>	</a:t>
            </a:r>
            <a:r>
              <a:rPr lang="zh-TW" altLang="en-US" b="1" dirty="0" smtClean="0"/>
              <a:t>容  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b="1" dirty="0" smtClean="0"/>
              <a:t>		</a:t>
            </a:r>
            <a:r>
              <a:rPr lang="zh-HK" altLang="en-US" b="1" dirty="0" smtClean="0"/>
              <a:t>技  </a:t>
            </a:r>
            <a:r>
              <a:rPr lang="en-US" altLang="zh-HK" b="1" dirty="0" smtClean="0"/>
              <a:t/>
            </a:r>
            <a:br>
              <a:rPr lang="en-US" altLang="zh-HK" b="1" dirty="0" smtClean="0"/>
            </a:br>
            <a:r>
              <a:rPr lang="en-US" altLang="zh-HK" b="1" dirty="0" smtClean="0"/>
              <a:t>			</a:t>
            </a:r>
            <a:r>
              <a:rPr lang="zh-HK" altLang="en-US" b="1" dirty="0" smtClean="0"/>
              <a:t>術</a:t>
            </a:r>
            <a:endParaRPr lang="zh-HK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5508104" y="404664"/>
            <a:ext cx="313143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HK" altLang="en-US" sz="2000" dirty="0" smtClean="0"/>
              <a:t>前端技術 </a:t>
            </a:r>
            <a:r>
              <a:rPr lang="en-US" altLang="zh-HK" sz="2000" dirty="0" smtClean="0"/>
              <a:t>: </a:t>
            </a:r>
          </a:p>
          <a:p>
            <a:r>
              <a:rPr lang="en-US" altLang="zh-HK" sz="2000" dirty="0"/>
              <a:t>	</a:t>
            </a:r>
            <a:r>
              <a:rPr lang="en-US" altLang="zh-HK" sz="2000" dirty="0" smtClean="0"/>
              <a:t>HTML</a:t>
            </a:r>
            <a:r>
              <a:rPr lang="zh-HK" altLang="en-US" sz="2000" dirty="0">
                <a:latin typeface="新細明體"/>
              </a:rPr>
              <a:t>，</a:t>
            </a:r>
            <a:r>
              <a:rPr lang="en-US" altLang="zh-HK" sz="2000" dirty="0" smtClean="0"/>
              <a:t>CSS</a:t>
            </a:r>
            <a:r>
              <a:rPr lang="zh-HK" altLang="en-US" sz="2000" dirty="0" smtClean="0">
                <a:latin typeface="新細明體"/>
              </a:rPr>
              <a:t>，</a:t>
            </a:r>
            <a:endParaRPr lang="en-US" altLang="zh-HK" sz="2000" dirty="0" smtClean="0">
              <a:latin typeface="新細明體"/>
            </a:endParaRPr>
          </a:p>
          <a:p>
            <a:pPr marL="0" lvl="1"/>
            <a:r>
              <a:rPr lang="en-US" altLang="zh-HK" sz="2000" dirty="0">
                <a:latin typeface="新細明體"/>
              </a:rPr>
              <a:t>	</a:t>
            </a:r>
            <a:r>
              <a:rPr lang="en-US" altLang="zh-HK" sz="2000" dirty="0" smtClean="0">
                <a:latin typeface="新細明體"/>
              </a:rPr>
              <a:t>	</a:t>
            </a:r>
            <a:r>
              <a:rPr lang="en-US" altLang="zh-HK" sz="2000" dirty="0" smtClean="0"/>
              <a:t>JavaScript</a:t>
            </a:r>
            <a:r>
              <a:rPr lang="en-US" altLang="zh-HK" sz="2000" dirty="0" smtClean="0">
                <a:latin typeface="新細明體"/>
              </a:rPr>
              <a:t>;</a:t>
            </a:r>
          </a:p>
        </p:txBody>
      </p:sp>
      <p:sp>
        <p:nvSpPr>
          <p:cNvPr id="6" name="矩形 5"/>
          <p:cNvSpPr/>
          <p:nvPr/>
        </p:nvSpPr>
        <p:spPr>
          <a:xfrm>
            <a:off x="4644008" y="2283364"/>
            <a:ext cx="33953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HK" altLang="en-US" sz="2000" dirty="0" smtClean="0"/>
              <a:t>圖示庫 </a:t>
            </a:r>
            <a:r>
              <a:rPr lang="en-US" altLang="zh-HK" sz="2000" dirty="0" smtClean="0"/>
              <a:t>: Font Awesome 7.0.1</a:t>
            </a:r>
            <a:r>
              <a:rPr lang="en-US" altLang="zh-HK" sz="2000" dirty="0" smtClean="0">
                <a:latin typeface="新細明體"/>
              </a:rPr>
              <a:t> </a:t>
            </a:r>
            <a:r>
              <a:rPr lang="en-US" altLang="zh-HK" dirty="0" smtClean="0">
                <a:latin typeface="新細明體"/>
              </a:rPr>
              <a:t>;</a:t>
            </a:r>
          </a:p>
        </p:txBody>
      </p:sp>
      <p:sp>
        <p:nvSpPr>
          <p:cNvPr id="7" name="矩形 6"/>
          <p:cNvSpPr/>
          <p:nvPr/>
        </p:nvSpPr>
        <p:spPr>
          <a:xfrm>
            <a:off x="251520" y="4797152"/>
            <a:ext cx="30963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HK" altLang="en-US" sz="2000" dirty="0" smtClean="0"/>
              <a:t>布局 </a:t>
            </a:r>
            <a:r>
              <a:rPr lang="en-US" altLang="zh-HK" sz="2000" dirty="0" smtClean="0"/>
              <a:t>: CSS Flexbox </a:t>
            </a:r>
          </a:p>
          <a:p>
            <a:r>
              <a:rPr lang="en-US" altLang="zh-HK" sz="2000" dirty="0"/>
              <a:t>	</a:t>
            </a:r>
            <a:r>
              <a:rPr lang="en-US" altLang="zh-HK" sz="2000" dirty="0" smtClean="0"/>
              <a:t>(</a:t>
            </a:r>
            <a:r>
              <a:rPr lang="zh-HK" altLang="en-US" sz="2000" dirty="0" smtClean="0"/>
              <a:t>導覽列</a:t>
            </a:r>
            <a:r>
              <a:rPr lang="en-US" altLang="zh-HK" sz="2000" dirty="0" smtClean="0"/>
              <a:t>)</a:t>
            </a:r>
            <a:r>
              <a:rPr lang="zh-HK" altLang="en-US" sz="2000" dirty="0" smtClean="0">
                <a:latin typeface="新細明體"/>
              </a:rPr>
              <a:t>，</a:t>
            </a:r>
            <a:endParaRPr lang="en-US" altLang="zh-HK" sz="2000" dirty="0" smtClean="0">
              <a:latin typeface="新細明體"/>
            </a:endParaRPr>
          </a:p>
          <a:p>
            <a:r>
              <a:rPr lang="en-US" altLang="zh-HK" sz="2000" dirty="0">
                <a:latin typeface="新細明體"/>
              </a:rPr>
              <a:t>	 </a:t>
            </a:r>
            <a:r>
              <a:rPr lang="en-US" altLang="zh-HK" sz="2000" dirty="0" smtClean="0">
                <a:latin typeface="新細明體"/>
              </a:rPr>
              <a:t>         </a:t>
            </a:r>
            <a:r>
              <a:rPr lang="en-US" altLang="zh-HK" sz="2000" dirty="0" smtClean="0"/>
              <a:t>CSS Grid </a:t>
            </a:r>
          </a:p>
          <a:p>
            <a:r>
              <a:rPr lang="en-US" altLang="zh-HK" sz="2000" dirty="0"/>
              <a:t>	</a:t>
            </a:r>
            <a:r>
              <a:rPr lang="en-US" altLang="zh-HK" sz="2000" dirty="0" smtClean="0"/>
              <a:t>	(</a:t>
            </a:r>
            <a:r>
              <a:rPr lang="zh-HK" altLang="en-US" sz="2000" dirty="0" smtClean="0"/>
              <a:t>卡片區</a:t>
            </a:r>
            <a:r>
              <a:rPr lang="en-US" altLang="zh-HK" sz="2000" dirty="0" smtClean="0"/>
              <a:t>)</a:t>
            </a:r>
            <a:r>
              <a:rPr lang="en-US" altLang="zh-HK" sz="2000" dirty="0" smtClean="0">
                <a:latin typeface="新細明體"/>
              </a:rPr>
              <a:t> </a:t>
            </a:r>
            <a:r>
              <a:rPr lang="en-US" altLang="zh-HK" dirty="0" smtClean="0">
                <a:latin typeface="新細明體"/>
              </a:rPr>
              <a:t>;</a:t>
            </a:r>
          </a:p>
        </p:txBody>
      </p:sp>
      <p:sp>
        <p:nvSpPr>
          <p:cNvPr id="8" name="矩形 7"/>
          <p:cNvSpPr/>
          <p:nvPr/>
        </p:nvSpPr>
        <p:spPr>
          <a:xfrm>
            <a:off x="2699792" y="2996952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HK" altLang="en-US" sz="2000" dirty="0" smtClean="0"/>
              <a:t>動畫與互動 </a:t>
            </a:r>
            <a:r>
              <a:rPr lang="en-US" altLang="zh-HK" sz="2000" dirty="0" smtClean="0"/>
              <a:t>: </a:t>
            </a:r>
            <a:r>
              <a:rPr lang="en-US" altLang="zh-HK" sz="2000" dirty="0" err="1" smtClean="0"/>
              <a:t>setInterval</a:t>
            </a:r>
            <a:r>
              <a:rPr lang="en-US" altLang="zh-HK" sz="2000" dirty="0" smtClean="0"/>
              <a:t> </a:t>
            </a:r>
          </a:p>
          <a:p>
            <a:r>
              <a:rPr lang="en-US" altLang="zh-HK" sz="2000" dirty="0"/>
              <a:t>	</a:t>
            </a:r>
            <a:r>
              <a:rPr lang="zh-HK" altLang="en-US" sz="2000" dirty="0" smtClean="0"/>
              <a:t>實現文字閃爍</a:t>
            </a:r>
            <a:r>
              <a:rPr lang="zh-HK" altLang="en-US" sz="2000" dirty="0" smtClean="0">
                <a:latin typeface="新細明體"/>
              </a:rPr>
              <a:t>，</a:t>
            </a:r>
            <a:r>
              <a:rPr lang="en-US" altLang="zh-HK" sz="2000" dirty="0" smtClean="0"/>
              <a:t> </a:t>
            </a:r>
          </a:p>
          <a:p>
            <a:r>
              <a:rPr lang="en-US" altLang="zh-HK" sz="2000" dirty="0"/>
              <a:t>	</a:t>
            </a:r>
            <a:r>
              <a:rPr lang="en-US" altLang="zh-HK" sz="2000" dirty="0" smtClean="0"/>
              <a:t>	</a:t>
            </a:r>
            <a:r>
              <a:rPr lang="en-US" altLang="zh-HK" sz="2000" dirty="0" err="1" smtClean="0"/>
              <a:t>window.scrollY</a:t>
            </a:r>
            <a:endParaRPr lang="en-US" altLang="zh-HK" sz="2000" dirty="0" smtClean="0"/>
          </a:p>
          <a:p>
            <a:r>
              <a:rPr lang="en-US" altLang="zh-HK" sz="2000" dirty="0" smtClean="0"/>
              <a:t>			</a:t>
            </a:r>
            <a:r>
              <a:rPr lang="zh-HK" altLang="en-US" sz="2000" dirty="0" smtClean="0"/>
              <a:t>監聽滾動事件</a:t>
            </a:r>
            <a:r>
              <a:rPr lang="zh-HK" altLang="en-US" sz="2000" dirty="0" smtClean="0">
                <a:latin typeface="新細明體"/>
              </a:rPr>
              <a:t>，   </a:t>
            </a:r>
            <a:r>
              <a:rPr lang="en-US" altLang="zh-HK" sz="2000" dirty="0" smtClean="0"/>
              <a:t>CSS transitions </a:t>
            </a:r>
          </a:p>
          <a:p>
            <a:r>
              <a:rPr lang="en-US" altLang="zh-HK" sz="2000" dirty="0"/>
              <a:t>	</a:t>
            </a:r>
            <a:r>
              <a:rPr lang="zh-HK" altLang="en-US" sz="2000" dirty="0" smtClean="0"/>
              <a:t>平滑過渡效果 </a:t>
            </a:r>
            <a:r>
              <a:rPr lang="en-US" altLang="zh-HK" sz="2000" dirty="0" smtClean="0">
                <a:latin typeface="新細明體"/>
              </a:rPr>
              <a:t>; </a:t>
            </a:r>
            <a:endParaRPr lang="en-US" altLang="zh-HK" sz="2000" dirty="0" smtClean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42" y="3140967"/>
            <a:ext cx="1296144" cy="130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4" name="影像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934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56792"/>
            <a:ext cx="8640960" cy="5040560"/>
          </a:xfrm>
        </p:spPr>
        <p:txBody>
          <a:bodyPr>
            <a:normAutofit/>
          </a:bodyPr>
          <a:lstStyle/>
          <a:p>
            <a:r>
              <a:rPr lang="zh-HK" altLang="en-US" sz="2000" dirty="0" smtClean="0"/>
              <a:t>主色調 </a:t>
            </a:r>
            <a:r>
              <a:rPr lang="en-US" altLang="zh-HK" sz="2000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HK" altLang="en-US" sz="2000" dirty="0" smtClean="0"/>
              <a:t>背景 </a:t>
            </a:r>
            <a:r>
              <a:rPr lang="en-US" altLang="zh-HK" sz="2000" dirty="0" smtClean="0"/>
              <a:t>:  </a:t>
            </a:r>
            <a:r>
              <a:rPr lang="en-US" altLang="zh-HK" sz="2000" dirty="0" err="1" smtClean="0"/>
              <a:t>cadetblue</a:t>
            </a:r>
            <a:r>
              <a:rPr lang="en-US" altLang="zh-HK" sz="2000" dirty="0" smtClean="0"/>
              <a:t> </a:t>
            </a:r>
            <a:r>
              <a:rPr lang="en-US" altLang="zh-HK" sz="2000" dirty="0" smtClean="0">
                <a:latin typeface="新細明體"/>
                <a:ea typeface="新細明體"/>
              </a:rPr>
              <a:t>;</a:t>
            </a:r>
            <a:endParaRPr lang="en-US" altLang="zh-HK" sz="20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zh-HK" altLang="en-US" dirty="0" smtClean="0"/>
              <a:t>導覽列 </a:t>
            </a:r>
            <a:r>
              <a:rPr lang="en-US" altLang="zh-HK" dirty="0" smtClean="0"/>
              <a:t>: #2c3e50 (</a:t>
            </a:r>
            <a:r>
              <a:rPr lang="zh-HK" altLang="en-US" dirty="0" smtClean="0"/>
              <a:t>半透明初始</a:t>
            </a:r>
            <a:r>
              <a:rPr lang="en-US" altLang="zh-HK" dirty="0" smtClean="0"/>
              <a:t>) </a:t>
            </a:r>
            <a:r>
              <a:rPr lang="en-US" altLang="zh-HK" dirty="0" smtClean="0">
                <a:latin typeface="新細明體"/>
              </a:rPr>
              <a:t>;</a:t>
            </a:r>
            <a:endParaRPr lang="en-US" altLang="zh-HK" dirty="0" smtClean="0"/>
          </a:p>
          <a:p>
            <a:pPr lvl="3">
              <a:buFont typeface="Wingdings" panose="05000000000000000000" pitchFamily="2" charset="2"/>
              <a:buChar char="Ø"/>
            </a:pPr>
            <a:r>
              <a:rPr lang="zh-HK" altLang="en-US" sz="2000" dirty="0" smtClean="0"/>
              <a:t>強調色 </a:t>
            </a:r>
            <a:r>
              <a:rPr lang="en-US" altLang="zh-HK" sz="2000" dirty="0" smtClean="0"/>
              <a:t>: </a:t>
            </a:r>
            <a:r>
              <a:rPr lang="zh-HK" altLang="en-US" sz="2000" dirty="0" smtClean="0"/>
              <a:t>金色 </a:t>
            </a:r>
            <a:r>
              <a:rPr lang="en-US" altLang="zh-HK" sz="2000" dirty="0" smtClean="0"/>
              <a:t>(goldenrod)</a:t>
            </a:r>
            <a:r>
              <a:rPr lang="zh-HK" altLang="en-US" sz="2000" dirty="0" smtClean="0"/>
              <a:t>、藍紫色 </a:t>
            </a:r>
            <a:r>
              <a:rPr lang="en-US" altLang="zh-HK" sz="2000" dirty="0" smtClean="0"/>
              <a:t>(</a:t>
            </a:r>
            <a:r>
              <a:rPr lang="en-US" altLang="zh-HK" sz="2000" dirty="0" err="1" smtClean="0"/>
              <a:t>blueviolet</a:t>
            </a:r>
            <a:r>
              <a:rPr lang="en-US" altLang="zh-HK" sz="2000" dirty="0" smtClean="0"/>
              <a:t>)</a:t>
            </a:r>
            <a:r>
              <a:rPr lang="en-US" altLang="zh-HK" sz="2000" dirty="0">
                <a:latin typeface="新細明體"/>
              </a:rPr>
              <a:t> </a:t>
            </a:r>
            <a:r>
              <a:rPr lang="en-US" altLang="zh-HK" sz="2000" dirty="0" smtClean="0">
                <a:latin typeface="新細明體"/>
              </a:rPr>
              <a:t>;</a:t>
            </a:r>
          </a:p>
          <a:p>
            <a:pPr marL="1371600" lvl="3" indent="0">
              <a:buNone/>
            </a:pPr>
            <a:endParaRPr lang="en-US" altLang="zh-HK" sz="2000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zh-HK" altLang="en-US" sz="2000" dirty="0" smtClean="0"/>
              <a:t>卡片設計 </a:t>
            </a:r>
            <a:r>
              <a:rPr lang="en-US" altLang="zh-HK" sz="2000" dirty="0" smtClean="0"/>
              <a:t>: </a:t>
            </a:r>
          </a:p>
          <a:p>
            <a:pPr lvl="4">
              <a:buFont typeface="Wingdings" panose="05000000000000000000" pitchFamily="2" charset="2"/>
              <a:buChar char="p"/>
            </a:pPr>
            <a:r>
              <a:rPr lang="zh-HK" altLang="en-US" sz="2000" dirty="0" smtClean="0"/>
              <a:t>線性漸層 </a:t>
            </a:r>
            <a:r>
              <a:rPr lang="en-US" altLang="zh-HK" sz="2000" dirty="0" smtClean="0"/>
              <a:t>background : linear-gradient(135deg, white, </a:t>
            </a:r>
            <a:r>
              <a:rPr lang="en-US" altLang="zh-HK" sz="2000" dirty="0" err="1" smtClean="0"/>
              <a:t>lightyellow</a:t>
            </a:r>
            <a:r>
              <a:rPr lang="en-US" altLang="zh-HK" sz="2000" dirty="0" smtClean="0"/>
              <a:t>, </a:t>
            </a:r>
            <a:r>
              <a:rPr lang="en-US" altLang="zh-HK" sz="2000" dirty="0" err="1" smtClean="0"/>
              <a:t>lightgreen</a:t>
            </a:r>
            <a:r>
              <a:rPr lang="en-US" altLang="zh-HK" sz="2000" dirty="0" smtClean="0"/>
              <a:t>)</a:t>
            </a:r>
            <a:r>
              <a:rPr lang="en-US" altLang="zh-HK" sz="2000" dirty="0">
                <a:latin typeface="新細明體"/>
              </a:rPr>
              <a:t> </a:t>
            </a:r>
            <a:r>
              <a:rPr lang="en-US" altLang="zh-HK" sz="2000" dirty="0" smtClean="0">
                <a:latin typeface="新細明體"/>
              </a:rPr>
              <a:t>;</a:t>
            </a:r>
            <a:endParaRPr lang="en-US" altLang="zh-HK" sz="2000" dirty="0" smtClean="0"/>
          </a:p>
          <a:p>
            <a:pPr lvl="5">
              <a:buFont typeface="Wingdings" panose="05000000000000000000" pitchFamily="2" charset="2"/>
              <a:buChar char="p"/>
            </a:pPr>
            <a:r>
              <a:rPr lang="zh-HK" altLang="en-US" sz="2000" dirty="0" smtClean="0"/>
              <a:t>邊框 </a:t>
            </a:r>
            <a:r>
              <a:rPr lang="en-US" altLang="zh-HK" sz="2000" dirty="0" smtClean="0"/>
              <a:t>: 2px solid </a:t>
            </a:r>
            <a:r>
              <a:rPr lang="en-US" altLang="zh-HK" sz="2000" dirty="0" err="1" smtClean="0"/>
              <a:t>blueviolet</a:t>
            </a:r>
            <a:r>
              <a:rPr lang="en-US" altLang="zh-HK" sz="2000" dirty="0" smtClean="0"/>
              <a:t>, </a:t>
            </a:r>
            <a:r>
              <a:rPr lang="zh-HK" altLang="en-US" sz="2000" dirty="0" smtClean="0"/>
              <a:t>圓角 </a:t>
            </a:r>
            <a:r>
              <a:rPr lang="en-US" altLang="zh-HK" sz="2000" dirty="0" smtClean="0"/>
              <a:t>8px</a:t>
            </a:r>
            <a:r>
              <a:rPr lang="en-US" altLang="zh-HK" sz="2000" dirty="0" smtClean="0">
                <a:latin typeface="新細明體"/>
              </a:rPr>
              <a:t> ;</a:t>
            </a:r>
          </a:p>
          <a:p>
            <a:pPr marL="1828800" lvl="4" indent="0">
              <a:buNone/>
            </a:pPr>
            <a:endParaRPr lang="en-US" altLang="zh-HK" sz="2000" dirty="0" smtClean="0"/>
          </a:p>
          <a:p>
            <a:pPr lvl="5"/>
            <a:r>
              <a:rPr lang="zh-HK" altLang="en-US" sz="2000" dirty="0" smtClean="0"/>
              <a:t>按鈕 </a:t>
            </a:r>
            <a:r>
              <a:rPr lang="en-US" altLang="zh-HK" sz="2000" dirty="0" smtClean="0"/>
              <a:t>:</a:t>
            </a:r>
          </a:p>
          <a:p>
            <a:pPr lvl="6">
              <a:buFont typeface="Wingdings" panose="05000000000000000000" pitchFamily="2" charset="2"/>
              <a:buChar char="ü"/>
            </a:pPr>
            <a:r>
              <a:rPr lang="zh-HK" altLang="en-US" sz="2000" dirty="0" smtClean="0"/>
              <a:t>圓角 </a:t>
            </a:r>
            <a:r>
              <a:rPr lang="en-US" altLang="zh-HK" sz="2000" dirty="0" smtClean="0"/>
              <a:t>35px, </a:t>
            </a:r>
            <a:r>
              <a:rPr lang="zh-HK" altLang="en-US" sz="2000" dirty="0" smtClean="0"/>
              <a:t>紅色邊框</a:t>
            </a:r>
            <a:r>
              <a:rPr lang="en-US" altLang="zh-HK" sz="2000" dirty="0" smtClean="0"/>
              <a:t>, </a:t>
            </a:r>
            <a:r>
              <a:rPr lang="zh-HK" altLang="en-US" sz="2000" dirty="0" smtClean="0"/>
              <a:t>懸停時背景變深藍色 </a:t>
            </a:r>
            <a:r>
              <a:rPr lang="en-US" altLang="zh-HK" sz="2000" dirty="0" smtClean="0">
                <a:latin typeface="新細明體"/>
              </a:rPr>
              <a:t>;</a:t>
            </a:r>
            <a:endParaRPr lang="en-US" altLang="zh-HK" sz="2000" dirty="0" smtClean="0"/>
          </a:p>
          <a:p>
            <a:pPr lvl="7">
              <a:buFont typeface="Wingdings" panose="05000000000000000000" pitchFamily="2" charset="2"/>
              <a:buChar char="ü"/>
            </a:pPr>
            <a:r>
              <a:rPr lang="zh-HK" altLang="en-US" sz="2000" dirty="0" smtClean="0"/>
              <a:t>響應式 </a:t>
            </a:r>
            <a:r>
              <a:rPr lang="en-US" altLang="zh-HK" sz="2000" dirty="0" smtClean="0"/>
              <a:t>: </a:t>
            </a:r>
            <a:r>
              <a:rPr lang="zh-HK" altLang="en-US" sz="2000" dirty="0" smtClean="0"/>
              <a:t>使用 </a:t>
            </a:r>
            <a:r>
              <a:rPr lang="en-US" altLang="zh-HK" sz="2000" dirty="0" smtClean="0"/>
              <a:t>grid-template-columns: repeat(5, 1fr) </a:t>
            </a:r>
            <a:r>
              <a:rPr lang="zh-HK" altLang="en-US" sz="2000" dirty="0" smtClean="0"/>
              <a:t>在大螢幕上</a:t>
            </a:r>
            <a:r>
              <a:rPr lang="zh-HK" altLang="en-US" sz="2000" dirty="0" smtClean="0">
                <a:latin typeface="標楷體"/>
                <a:ea typeface="標楷體"/>
              </a:rPr>
              <a:t>。</a:t>
            </a:r>
            <a:endParaRPr lang="zh-HK" altLang="en-US" sz="20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11760" y="548680"/>
            <a:ext cx="6480720" cy="1252728"/>
          </a:xfrm>
        </p:spPr>
        <p:txBody>
          <a:bodyPr/>
          <a:lstStyle/>
          <a:p>
            <a:r>
              <a:rPr lang="zh-HK" altLang="en-US" b="1" dirty="0" smtClean="0"/>
              <a:t>內  容  </a:t>
            </a:r>
            <a:r>
              <a:rPr lang="zh-TW" altLang="en-US" b="1" dirty="0" smtClean="0"/>
              <a:t>設</a:t>
            </a:r>
            <a:r>
              <a:rPr lang="zh-HK" altLang="en-US" b="1" dirty="0" smtClean="0"/>
              <a:t>  </a:t>
            </a:r>
            <a:r>
              <a:rPr lang="zh-TW" altLang="en-US" b="1" dirty="0" smtClean="0"/>
              <a:t>計</a:t>
            </a:r>
            <a:endParaRPr lang="zh-HK" altLang="en-US" b="1" dirty="0"/>
          </a:p>
        </p:txBody>
      </p:sp>
    </p:spTree>
    <p:extLst>
      <p:ext uri="{BB962C8B-B14F-4D97-AF65-F5344CB8AC3E}">
        <p14:creationId xmlns:p14="http://schemas.microsoft.com/office/powerpoint/2010/main" val="71078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4" name="影像7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22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DnDiag">
          <a:fgClr>
            <a:schemeClr val="accent5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2924944"/>
            <a:ext cx="6336704" cy="3312368"/>
          </a:xfrm>
        </p:spPr>
        <p:txBody>
          <a:bodyPr>
            <a:normAutofit/>
          </a:bodyPr>
          <a:lstStyle/>
          <a:p>
            <a:r>
              <a:rPr lang="zh-TW" altLang="en-US" dirty="0"/>
              <a:t>完成各洲的詳細頁面 </a:t>
            </a:r>
            <a:r>
              <a:rPr lang="en-US" altLang="zh-TW" dirty="0"/>
              <a:t>(asia-info.html </a:t>
            </a:r>
            <a:r>
              <a:rPr lang="zh-TW" altLang="en-US" dirty="0"/>
              <a:t>等</a:t>
            </a:r>
            <a:r>
              <a:rPr lang="en-US" altLang="zh-TW" dirty="0"/>
              <a:t>)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	</a:t>
            </a:r>
            <a:r>
              <a:rPr lang="zh-TW" altLang="en-US" dirty="0" smtClean="0"/>
              <a:t>並</a:t>
            </a:r>
            <a:r>
              <a:rPr lang="zh-TW" altLang="en-US" dirty="0"/>
              <a:t>串接真實</a:t>
            </a:r>
            <a:r>
              <a:rPr lang="zh-TW" altLang="en-US" dirty="0" smtClean="0"/>
              <a:t>內容 </a:t>
            </a:r>
            <a:r>
              <a:rPr lang="en-US" altLang="zh-TW" dirty="0" smtClean="0"/>
              <a:t>;</a:t>
            </a:r>
          </a:p>
          <a:p>
            <a:r>
              <a:rPr lang="zh-TW" altLang="en-US" dirty="0" smtClean="0"/>
              <a:t>加入</a:t>
            </a:r>
            <a:r>
              <a:rPr lang="zh-TW" altLang="en-US" dirty="0"/>
              <a:t>相簿功能，實現圖片燈箱</a:t>
            </a:r>
            <a:r>
              <a:rPr lang="zh-TW" altLang="en-US" dirty="0" smtClean="0"/>
              <a:t>效果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		</a:t>
            </a:r>
            <a:r>
              <a:rPr lang="zh-TW" altLang="en-US" dirty="0" smtClean="0"/>
              <a:t> </a:t>
            </a:r>
            <a:r>
              <a:rPr lang="en-US" altLang="zh-TW" dirty="0"/>
              <a:t>(</a:t>
            </a:r>
            <a:r>
              <a:rPr lang="zh-TW" altLang="en-US" dirty="0"/>
              <a:t>已有 </a:t>
            </a:r>
            <a:r>
              <a:rPr lang="en-US" altLang="zh-TW" dirty="0"/>
              <a:t>modal </a:t>
            </a:r>
            <a:r>
              <a:rPr lang="zh-TW" altLang="en-US" dirty="0"/>
              <a:t>函數骨架</a:t>
            </a:r>
            <a:r>
              <a:rPr lang="en-US" altLang="zh-TW" dirty="0" smtClean="0"/>
              <a:t>) ;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zh-TW" altLang="en-US" dirty="0" smtClean="0"/>
              <a:t>聯繫</a:t>
            </a:r>
            <a:r>
              <a:rPr lang="zh-TW" altLang="en-US" dirty="0"/>
              <a:t>表單後端實作 </a:t>
            </a:r>
            <a:r>
              <a:rPr lang="en-US" altLang="zh-TW" dirty="0"/>
              <a:t>(</a:t>
            </a:r>
            <a:r>
              <a:rPr lang="zh-TW" altLang="en-US" dirty="0"/>
              <a:t>儲存留言</a:t>
            </a:r>
            <a:r>
              <a:rPr lang="en-US" altLang="zh-TW" dirty="0" smtClean="0"/>
              <a:t>) ;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zh-TW" altLang="en-US" dirty="0" smtClean="0"/>
              <a:t>整合 </a:t>
            </a:r>
            <a:r>
              <a:rPr lang="en-US" altLang="zh-TW" dirty="0"/>
              <a:t>Google Maps API </a:t>
            </a:r>
            <a:r>
              <a:rPr lang="zh-TW" altLang="en-US" dirty="0"/>
              <a:t>顯示景點</a:t>
            </a:r>
            <a:r>
              <a:rPr lang="zh-TW" altLang="en-US" dirty="0" smtClean="0"/>
              <a:t>位置 </a:t>
            </a:r>
            <a:r>
              <a:rPr lang="en-US" altLang="zh-TW" dirty="0" smtClean="0"/>
              <a:t>;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zh-TW" altLang="en-US" dirty="0" smtClean="0"/>
              <a:t>改進</a:t>
            </a:r>
            <a:r>
              <a:rPr lang="zh-TW" altLang="en-US" dirty="0"/>
              <a:t>行動版體驗 </a:t>
            </a:r>
            <a:r>
              <a:rPr lang="en-US" altLang="zh-TW" dirty="0"/>
              <a:t>(</a:t>
            </a:r>
            <a:r>
              <a:rPr lang="zh-TW" altLang="en-US" dirty="0"/>
              <a:t>漢堡選單、觸控優化</a:t>
            </a:r>
            <a:r>
              <a:rPr lang="en-US" altLang="zh-TW" dirty="0" smtClean="0"/>
              <a:t>)</a:t>
            </a:r>
            <a:r>
              <a:rPr lang="zh-TW" altLang="en-US" dirty="0" smtClean="0">
                <a:latin typeface="標楷體"/>
                <a:ea typeface="標楷體"/>
              </a:rPr>
              <a:t>。</a:t>
            </a:r>
            <a:endParaRPr lang="zh-HK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2232248"/>
          </a:xfrm>
        </p:spPr>
        <p:txBody>
          <a:bodyPr/>
          <a:lstStyle/>
          <a:p>
            <a:r>
              <a:rPr lang="zh-HK" altLang="en-US" b="1" dirty="0" smtClean="0"/>
              <a:t>內  容  </a:t>
            </a:r>
            <a:r>
              <a:rPr lang="zh-TW" altLang="en-US" b="1" dirty="0" smtClean="0"/>
              <a:t>冀  望</a:t>
            </a:r>
            <a:endParaRPr lang="zh-HK" altLang="en-US" b="1" dirty="0"/>
          </a:p>
        </p:txBody>
      </p:sp>
    </p:spTree>
    <p:extLst>
      <p:ext uri="{BB962C8B-B14F-4D97-AF65-F5344CB8AC3E}">
        <p14:creationId xmlns:p14="http://schemas.microsoft.com/office/powerpoint/2010/main" val="24287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153</TotalTime>
  <Words>412</Words>
  <Application>Microsoft Office PowerPoint</Application>
  <PresentationFormat>如螢幕大小 (4:3)</PresentationFormat>
  <Paragraphs>66</Paragraphs>
  <Slides>13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波形</vt:lpstr>
      <vt:lpstr>旅遊自由行網站 – 專案展示</vt:lpstr>
      <vt:lpstr>內  容  概  覽</vt:lpstr>
      <vt:lpstr>PowerPoint 簡報</vt:lpstr>
      <vt:lpstr>PowerPoint 簡報</vt:lpstr>
      <vt:lpstr>內  容  結  構</vt:lpstr>
      <vt:lpstr>PowerPoint 簡報</vt:lpstr>
      <vt:lpstr>     內  容  功  能</vt:lpstr>
      <vt:lpstr>PowerPoint 簡報</vt:lpstr>
      <vt:lpstr>內    容     技      術</vt:lpstr>
      <vt:lpstr>PowerPoint 簡報</vt:lpstr>
      <vt:lpstr>內  容  設  計</vt:lpstr>
      <vt:lpstr>PowerPoint 簡報</vt:lpstr>
      <vt:lpstr>內  容  冀  望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旅遊自由行網站 – 專案展示</dc:title>
  <dc:creator>Dsiu999</dc:creator>
  <cp:lastModifiedBy>Dsiu999</cp:lastModifiedBy>
  <cp:revision>14</cp:revision>
  <dcterms:created xsi:type="dcterms:W3CDTF">2026-03-24T17:16:14Z</dcterms:created>
  <dcterms:modified xsi:type="dcterms:W3CDTF">2026-03-26T08:23:22Z</dcterms:modified>
</cp:coreProperties>
</file>